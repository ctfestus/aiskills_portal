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75e1213502481e" /><Relationship Type="http://schemas.openxmlformats.org/officeDocument/2006/relationships/extended-properties" Target="/docProps/app.xml" Id="Rc9265e6aef7240b0" /><Relationship Type="http://schemas.openxmlformats.org/officeDocument/2006/relationships/officeDocument" Target="/ppt/presentation.xml" Id="R4e915ec62aea47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63b8f102704d4b"/>
  </p:sldMasterIdLst>
  <p:notesMasterIdLst>
    <p:notesMasterId xmlns:r="http://schemas.openxmlformats.org/officeDocument/2006/relationships" r:id="R6870536ae4b84504"/>
  </p:notesMasterIdLst>
  <p:sldIdLst>
    <p:sldId xmlns:r="http://schemas.openxmlformats.org/officeDocument/2006/relationships" id="256" r:id="R741d7f8692e74f67"/>
    <p:sldId xmlns:r="http://schemas.openxmlformats.org/officeDocument/2006/relationships" id="257" r:id="R857488e41df04e77"/>
    <p:sldId xmlns:r="http://schemas.openxmlformats.org/officeDocument/2006/relationships" id="258" r:id="R8c1a3eca08bb47bb"/>
    <p:sldId xmlns:r="http://schemas.openxmlformats.org/officeDocument/2006/relationships" id="259" r:id="R3588e7008eec46b8"/>
    <p:sldId xmlns:r="http://schemas.openxmlformats.org/officeDocument/2006/relationships" id="260" r:id="R0bdd2f7b7dc54875"/>
    <p:sldId xmlns:r="http://schemas.openxmlformats.org/officeDocument/2006/relationships" id="261" r:id="R999346c61f5b4f14"/>
    <p:sldId xmlns:r="http://schemas.openxmlformats.org/officeDocument/2006/relationships" id="262" r:id="R3bf403cf27c34fe0"/>
    <p:sldId xmlns:r="http://schemas.openxmlformats.org/officeDocument/2006/relationships" id="263" r:id="R94c96fdd2f284a3e"/>
    <p:sldId xmlns:r="http://schemas.openxmlformats.org/officeDocument/2006/relationships" id="264" r:id="Rbd88af183d914ea7"/>
    <p:sldId xmlns:r="http://schemas.openxmlformats.org/officeDocument/2006/relationships" id="265" r:id="R1c5a58268e584ed8"/>
    <p:sldId xmlns:r="http://schemas.openxmlformats.org/officeDocument/2006/relationships" id="266" r:id="R458c89e30a164b26"/>
    <p:sldId xmlns:r="http://schemas.openxmlformats.org/officeDocument/2006/relationships" id="267" r:id="Racce8d6c4b3140d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63b8f102704d4b" /><Relationship Type="http://schemas.openxmlformats.org/officeDocument/2006/relationships/theme" Target="/ppt/theme/theme1.xml" Id="Ra3450a69e42d4b21" /><Relationship Type="http://schemas.openxmlformats.org/officeDocument/2006/relationships/notesMaster" Target="/ppt/notesMasters/notesMaster1.xml" Id="R6870536ae4b84504" /><Relationship Type="http://schemas.openxmlformats.org/officeDocument/2006/relationships/presProps" Target="/ppt/presProps.xml" Id="R9efa0c7ec0cb41fe" /><Relationship Type="http://schemas.openxmlformats.org/officeDocument/2006/relationships/viewProps" Target="/ppt/viewProps.xml" Id="Rde840985ec274c98" /><Relationship Type="http://schemas.openxmlformats.org/officeDocument/2006/relationships/tableStyles" Target="/ppt/tableStyles.xml" Id="Re1e4a19bcdca4782" /><Relationship Type="http://schemas.openxmlformats.org/officeDocument/2006/relationships/slide" Target="/ppt/slides/slide1.xml" Id="R741d7f8692e74f67" /><Relationship Type="http://schemas.openxmlformats.org/officeDocument/2006/relationships/slide" Target="/ppt/slides/slide2.xml" Id="R857488e41df04e77" /><Relationship Type="http://schemas.openxmlformats.org/officeDocument/2006/relationships/slide" Target="/ppt/slides/slide3.xml" Id="R8c1a3eca08bb47bb" /><Relationship Type="http://schemas.openxmlformats.org/officeDocument/2006/relationships/slide" Target="/ppt/slides/slide4.xml" Id="R3588e7008eec46b8" /><Relationship Type="http://schemas.openxmlformats.org/officeDocument/2006/relationships/slide" Target="/ppt/slides/slide5.xml" Id="R0bdd2f7b7dc54875" /><Relationship Type="http://schemas.openxmlformats.org/officeDocument/2006/relationships/slide" Target="/ppt/slides/slide6.xml" Id="R999346c61f5b4f14" /><Relationship Type="http://schemas.openxmlformats.org/officeDocument/2006/relationships/slide" Target="/ppt/slides/slide7.xml" Id="R3bf403cf27c34fe0" /><Relationship Type="http://schemas.openxmlformats.org/officeDocument/2006/relationships/slide" Target="/ppt/slides/slide8.xml" Id="R94c96fdd2f284a3e" /><Relationship Type="http://schemas.openxmlformats.org/officeDocument/2006/relationships/slide" Target="/ppt/slides/slide9.xml" Id="Rbd88af183d914ea7" /><Relationship Type="http://schemas.openxmlformats.org/officeDocument/2006/relationships/slide" Target="/ppt/slides/slide10.xml" Id="R1c5a58268e584ed8" /><Relationship Type="http://schemas.openxmlformats.org/officeDocument/2006/relationships/slide" Target="/ppt/slides/slide11.xml" Id="R458c89e30a164b26" /><Relationship Type="http://schemas.openxmlformats.org/officeDocument/2006/relationships/slide" Target="/ppt/slides/slide12.xml" Id="Racce8d6c4b3140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1ab04789e5948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8779b864ac49f7" /><Relationship Type="http://schemas.openxmlformats.org/officeDocument/2006/relationships/notesMaster" Target="/ppt/notesMasters/notesMaster1.xml" Id="Rb0a39ce1221f4f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15c1a880d74777" /><Relationship Type="http://schemas.openxmlformats.org/officeDocument/2006/relationships/notesMaster" Target="/ppt/notesMasters/notesMaster1.xml" Id="R6cf716a8645b4d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d86d6b0a654ac3" /><Relationship Type="http://schemas.openxmlformats.org/officeDocument/2006/relationships/notesMaster" Target="/ppt/notesMasters/notesMaster1.xml" Id="R9fb2d7ee7a2d4a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e43bfd590c4f45" /><Relationship Type="http://schemas.openxmlformats.org/officeDocument/2006/relationships/notesMaster" Target="/ppt/notesMasters/notesMaster1.xml" Id="R1dc76ee072544f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b00ed4665f431b" /><Relationship Type="http://schemas.openxmlformats.org/officeDocument/2006/relationships/notesMaster" Target="/ppt/notesMasters/notesMaster1.xml" Id="R07e1a667c74e41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3329ab13b141fa" /><Relationship Type="http://schemas.openxmlformats.org/officeDocument/2006/relationships/notesMaster" Target="/ppt/notesMasters/notesMaster1.xml" Id="R7096a4622ecb49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2ff4283cf14f3b" /><Relationship Type="http://schemas.openxmlformats.org/officeDocument/2006/relationships/notesMaster" Target="/ppt/notesMasters/notesMaster1.xml" Id="R3359cad479b448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e9645cfb044529" /><Relationship Type="http://schemas.openxmlformats.org/officeDocument/2006/relationships/notesMaster" Target="/ppt/notesMasters/notesMaster1.xml" Id="Rf009ae6d612b46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97ea743beb449e" /><Relationship Type="http://schemas.openxmlformats.org/officeDocument/2006/relationships/notesMaster" Target="/ppt/notesMasters/notesMaster1.xml" Id="R73a39aaa1d484b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190dddd5be4ee0" /><Relationship Type="http://schemas.openxmlformats.org/officeDocument/2006/relationships/notesMaster" Target="/ppt/notesMasters/notesMaster1.xml" Id="R5aaaea0390d24d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2c6fb763374f9e" /><Relationship Type="http://schemas.openxmlformats.org/officeDocument/2006/relationships/notesMaster" Target="/ppt/notesMasters/notesMaster1.xml" Id="R90b57184826645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03c20450cc496f" /><Relationship Type="http://schemas.openxmlformats.org/officeDocument/2006/relationships/notesMaster" Target="/ppt/notesMasters/notesMaster1.xml" Id="R766d4b14489448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6bcb265c8d4fe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75e55503f734511" /><Relationship Type="http://schemas.openxmlformats.org/officeDocument/2006/relationships/slideLayout" Target="/ppt/slideLayouts/slideLayout2.xml" Id="R766e3fba793d40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6e3fba793d40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e0fa2eb3c244b8" /><Relationship Type="http://schemas.openxmlformats.org/officeDocument/2006/relationships/image" Target="/ppt/media/image.png" Id="R050ca3d802634f7f" /><Relationship Type="http://schemas.openxmlformats.org/officeDocument/2006/relationships/image" Target="/ppt/media/image.svg" Id="R97d468c910564015" /><Relationship Type="http://schemas.openxmlformats.org/officeDocument/2006/relationships/image" Target="/ppt/media/image2.png" Id="Rdcd088d9d66a4637" /><Relationship Type="http://schemas.openxmlformats.org/officeDocument/2006/relationships/image" Target="/ppt/media/image2.svg" Id="Rb7e43ad66f704e80" /><Relationship Type="http://schemas.openxmlformats.org/officeDocument/2006/relationships/image" Target="/ppt/media/image3.png" Id="Rbd12ba1ef40149ad" /><Relationship Type="http://schemas.openxmlformats.org/officeDocument/2006/relationships/image" Target="/ppt/media/image3.svg" Id="R12880d6e0161419e" /><Relationship Type="http://schemas.openxmlformats.org/officeDocument/2006/relationships/notesSlide" Target="/ppt/notesSlides/notesSlide1.xml" Id="R352a1f26649142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662918f94e457d" /><Relationship Type="http://schemas.openxmlformats.org/officeDocument/2006/relationships/image" Target="/ppt/media/image4.png" Id="R9c071f932df24817" /><Relationship Type="http://schemas.openxmlformats.org/officeDocument/2006/relationships/image" Target="/ppt/media/image4.svg" Id="R0676796666ee401f" /><Relationship Type="http://schemas.openxmlformats.org/officeDocument/2006/relationships/notesSlide" Target="/ppt/notesSlides/notesSlide2.xml" Id="Re5707513214d4f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cdddd8454f4e36" /><Relationship Type="http://schemas.openxmlformats.org/officeDocument/2006/relationships/notesSlide" Target="/ppt/notesSlides/notesSlide3.xml" Id="R4d19f8c670484e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73f90eedc64964" /><Relationship Type="http://schemas.openxmlformats.org/officeDocument/2006/relationships/image" Target="/ppt/media/image5.png" Id="R2dee78fe7b804700" /><Relationship Type="http://schemas.openxmlformats.org/officeDocument/2006/relationships/image" Target="/ppt/media/image5.svg" Id="R9d706606b895487f" /><Relationship Type="http://schemas.openxmlformats.org/officeDocument/2006/relationships/image" Target="/ppt/media/image6.png" Id="R2f56d7e527054e45" /><Relationship Type="http://schemas.openxmlformats.org/officeDocument/2006/relationships/image" Target="/ppt/media/image6.svg" Id="Rbbbb40e4565541f4" /><Relationship Type="http://schemas.openxmlformats.org/officeDocument/2006/relationships/notesSlide" Target="/ppt/notesSlides/notesSlide4.xml" Id="Rfb861a1eb4ab44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debbc0eae24df5" /><Relationship Type="http://schemas.openxmlformats.org/officeDocument/2006/relationships/image" Target="/ppt/media/image7.png" Id="R45a1b045ed8246f5" /><Relationship Type="http://schemas.openxmlformats.org/officeDocument/2006/relationships/image" Target="/ppt/media/image7.svg" Id="Reda5484f5267431b" /><Relationship Type="http://schemas.openxmlformats.org/officeDocument/2006/relationships/image" Target="/ppt/media/image8.png" Id="R6c4ba639a6c6426e" /><Relationship Type="http://schemas.openxmlformats.org/officeDocument/2006/relationships/image" Target="/ppt/media/image8.svg" Id="Rd8aab5b5581d4681" /><Relationship Type="http://schemas.openxmlformats.org/officeDocument/2006/relationships/image" Target="/ppt/media/image9.png" Id="R5d6da42fb9404bbe" /><Relationship Type="http://schemas.openxmlformats.org/officeDocument/2006/relationships/image" Target="/ppt/media/image9.svg" Id="R1d82a22cd9cf40f9" /><Relationship Type="http://schemas.openxmlformats.org/officeDocument/2006/relationships/notesSlide" Target="/ppt/notesSlides/notesSlide5.xml" Id="R6d46db4852c843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4ea345c5ac4ad6" /><Relationship Type="http://schemas.openxmlformats.org/officeDocument/2006/relationships/image" Target="/ppt/media/image10.png" Id="R24b5d2107d394760" /><Relationship Type="http://schemas.openxmlformats.org/officeDocument/2006/relationships/image" Target="/ppt/media/image10.svg" Id="Ref8c54cdc1ee4471" /><Relationship Type="http://schemas.openxmlformats.org/officeDocument/2006/relationships/image" Target="/ppt/media/image11.png" Id="Rf1a3d481dfc74b29" /><Relationship Type="http://schemas.openxmlformats.org/officeDocument/2006/relationships/image" Target="/ppt/media/image11.svg" Id="R4145e8725f22465e" /><Relationship Type="http://schemas.openxmlformats.org/officeDocument/2006/relationships/image" Target="/ppt/media/image12.png" Id="R53895cb6d9d64f6a" /><Relationship Type="http://schemas.openxmlformats.org/officeDocument/2006/relationships/image" Target="/ppt/media/image12.svg" Id="Rf3d883dd4df24200" /><Relationship Type="http://schemas.openxmlformats.org/officeDocument/2006/relationships/notesSlide" Target="/ppt/notesSlides/notesSlide6.xml" Id="R5e78dc6d527543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b47f9bcf6c4f3c" /><Relationship Type="http://schemas.openxmlformats.org/officeDocument/2006/relationships/image" Target="/ppt/media/image13.png" Id="Re10f603505da4506" /><Relationship Type="http://schemas.openxmlformats.org/officeDocument/2006/relationships/image" Target="/ppt/media/image13.svg" Id="Rc10d12acc7e84442" /><Relationship Type="http://schemas.openxmlformats.org/officeDocument/2006/relationships/notesSlide" Target="/ppt/notesSlides/notesSlide7.xml" Id="R77177d6101f74f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abf6d6e8e7438a" /><Relationship Type="http://schemas.openxmlformats.org/officeDocument/2006/relationships/image" Target="/ppt/media/image14.png" Id="Ra7d82ca4b93e440c" /><Relationship Type="http://schemas.openxmlformats.org/officeDocument/2006/relationships/image" Target="/ppt/media/image14.svg" Id="R786d4da2cac744e5" /><Relationship Type="http://schemas.openxmlformats.org/officeDocument/2006/relationships/notesSlide" Target="/ppt/notesSlides/notesSlide8.xml" Id="R6d1604f78b6242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7f0c2b57464eba" /><Relationship Type="http://schemas.openxmlformats.org/officeDocument/2006/relationships/notesSlide" Target="/ppt/notesSlides/notesSlide9.xml" Id="Refeddc5b74b947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fb3649c53d4a7f" /><Relationship Type="http://schemas.openxmlformats.org/officeDocument/2006/relationships/image" Target="/ppt/media/image15.png" Id="Rf9ad95c09b554a1b" /><Relationship Type="http://schemas.openxmlformats.org/officeDocument/2006/relationships/image" Target="/ppt/media/image15.svg" Id="Rdea019eebddb453c" /><Relationship Type="http://schemas.openxmlformats.org/officeDocument/2006/relationships/notesSlide" Target="/ppt/notesSlides/notesSlide10.xml" Id="Rf234bf8a452442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153d395d4145ef" /><Relationship Type="http://schemas.openxmlformats.org/officeDocument/2006/relationships/image" Target="/ppt/media/image16.png" Id="R34e1f9efdfbf4129" /><Relationship Type="http://schemas.openxmlformats.org/officeDocument/2006/relationships/image" Target="/ppt/media/image16.svg" Id="R3c48d8d5cf894064" /><Relationship Type="http://schemas.openxmlformats.org/officeDocument/2006/relationships/notesSlide" Target="/ppt/notesSlides/notesSlide11.xml" Id="R1e82911204794b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4bf97345b8468a" /><Relationship Type="http://schemas.openxmlformats.org/officeDocument/2006/relationships/image" Target="/ppt/media/image17.png" Id="R3de1ed5a9a294e9a" /><Relationship Type="http://schemas.openxmlformats.org/officeDocument/2006/relationships/image" Target="/ppt/media/image17.svg" Id="R83d9bc73bbf5477f" /><Relationship Type="http://schemas.openxmlformats.org/officeDocument/2006/relationships/notesSlide" Target="/ppt/notesSlides/notesSlide12.xml" Id="R7bc48d9cbaea40a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D70499-9F78-4F15-ACEA-0E8324DC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C7623-6C7A-4AE9-833E-7D3BC8BE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44990-A307-4DDC-B74F-951A14C4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EA2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B52D5-E77A-4CA0-8685-28A342E3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6388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D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CD9EC-B775-4EC9-A535-45828CC9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5143500" cy="521970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4C511-F437-4377-9E89-7027325B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191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4EA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4EA2"/>
                </a:solidFill>
                <a:latin typeface="Aptos"/>
                <a:ea typeface="Aptos"/>
                <a:cs typeface="Aptos"/>
              </a:rPr>
              <a:t>Complete Guide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01B6E-0E94-403F-8090-286C2249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00150"/>
            <a:ext cx="4286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B3D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1B3D"/>
                </a:solidFill>
                <a:latin typeface="Georgia"/>
                <a:ea typeface="Georgia"/>
                <a:cs typeface="Georgia"/>
              </a:rPr>
              <a:t>A portfolio project wins when it reads like a business case.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64F04-3EBE-4D3C-B4B9-E9BB4B7E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43200"/>
            <a:ext cx="3952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Turn dashboards, SQL, Excel, Python, Power BI, or Tableau work into a recruiter-ready analytics 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CAC0F6-0DB6-4E67-909B-E5605544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CB200-B478-4524-BBA0-F25A0953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71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5F78A-040A-497A-BCB1-CC4D8FBB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94335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5028F-03DF-404F-85C6-0B6CA6E5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9243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Business-focused project title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7739A-CFA7-4199-BA8E-A3FFA669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91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6F278-4F44-403B-9F16-6031E34D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36245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C5457-E8AA-46E4-988E-51005F3A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434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Decision-led executive summary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A60E1-DB20-4DFF-8CBC-C86AECE8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5B8CB-B307-49F0-B1DB-588B3582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78155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7E026-E7A8-4EDC-ABCD-CD274C07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625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Insights tied to recommendations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ca3d802634f7f">
            <a:extLst>
              <a:ext uri="{96DAC541-7B7A-43D3-8B79-37D633B846F1}">
                <asvg:svgBlip xmlns:asvg="http://schemas.microsoft.com/office/drawing/2016/SVG/main" r:embed="R97d468c91056401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19850" y="876300"/>
            <a:ext cx="1285875" cy="1285875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088d9d66a4637">
            <a:extLst>
              <a:ext uri="{96DAC541-7B7A-43D3-8B79-37D633B846F1}">
                <asvg:svgBlip xmlns:asvg="http://schemas.microsoft.com/office/drawing/2016/SVG/main" r:embed="Rb7e43ad66f704e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81850" y="2952750"/>
            <a:ext cx="1524000" cy="15240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2ba1ef40149ad">
            <a:extLst>
              <a:ext uri="{96DAC541-7B7A-43D3-8B79-37D633B846F1}">
                <asvg:svgBlip xmlns:asvg="http://schemas.microsoft.com/office/drawing/2016/SVG/main" r:embed="R12880d6e016141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15375" y="1162050"/>
            <a:ext cx="1381125" cy="138112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5F818C-771F-4FE8-91A1-B7A97ABC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29175"/>
            <a:ext cx="4095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716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8A4B99-B287-4B8D-9E91-CFADD212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482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Webinar delivery deck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F7B85D-A384-4A99-859C-9F2805B7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530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ED0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ED0EA"/>
                </a:solidFill>
                <a:latin typeface="Aptos"/>
                <a:ea typeface="Aptos"/>
                <a:cs typeface="Aptos"/>
              </a:rPr>
              <a:t>From technical artifact to portfolio-ready business story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BEE197-756C-46A8-973A-4E3C6B2F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AI Skills Africa | Data Analytics Portfolio Webinar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9EDA09-52F6-4517-9E6C-E13A7BAB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088800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29B253-E1C8-4F8F-BD14-4848FEB0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762DB-9E06-496E-94B9-659D9CC6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F027A-EA06-426F-B3C2-4CE296F1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4B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BBD2A-A8A8-413D-AE6C-320D287C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6388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D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1AC10-421B-4F29-8A5B-99952A37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CAE1806-B150-4E4F-9B10-633C1C7F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A6E2310-9D16-48F8-8A3D-61CD0591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2425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A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7A4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C0C75-C756-4977-8EF3-61D0444B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B3D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B3D"/>
                </a:solidFill>
                <a:latin typeface="Georgia"/>
                <a:ea typeface="Georgia"/>
                <a:cs typeface="Georgia"/>
              </a:rPr>
              <a:t>Hiring managers are scanning for judgment, not just tools.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71f932df24817">
            <a:extLst>
              <a:ext uri="{96DAC541-7B7A-43D3-8B79-37D633B846F1}">
                <asvg:svgBlip xmlns:asvg="http://schemas.microsoft.com/office/drawing/2016/SVG/main" r:embed="R0676796666ee40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67700" y="83820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5F622-3128-494A-8ECC-352CFA95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2971800" cy="30480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59ABC-CCA2-452F-914A-C1B41EFF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479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1B3D"/>
                </a:solidFill>
                <a:latin typeface="Aptos"/>
                <a:ea typeface="Aptos"/>
                <a:cs typeface="Aptos"/>
              </a:rPr>
              <a:t>Recruiter scan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2D5DD-CD47-452E-AD7A-1307214F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28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8D8B5-AED0-4DEA-A0D8-C7063BF7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035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F9C28-75E9-4B59-A49F-311AD243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Can you solve business problems?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393D44-B50D-48A5-A539-5CD36C0C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86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54513-E3E6-4852-B46C-AB409ED6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5755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51DBDA-5B3B-48F5-BAD6-D2A02084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Can you think analytically?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9B12E5-970B-4045-87B6-B6629905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43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1C154C-C717-432E-BF78-E18428F6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BEF43F-D4B4-4A8E-A7E9-54077E30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957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Can you communicate insights?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CFA4E-97B6-4ED4-89E4-1677C00E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00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3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E14C85-EDB3-4228-9994-98FEE780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7195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47BC1B-634E-4D7B-9617-EF3D410E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529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Can you translate numbers into decisions?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3804C0-AA21-4F86-826B-4572075C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638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7A4B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0B7A4B"/>
                </a:solidFill>
                <a:latin typeface="Georgia"/>
                <a:ea typeface="Georgia"/>
                <a:cs typeface="Georgia"/>
              </a:rPr>
              <a:t>Teaching move: contrast a tool-first portfolio with a decision-first project story.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18DDA6-23A8-41A2-B100-5AF1CD6E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AI Skills Africa | Data Analytics Portfolio Webinar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38792D-1769-41BF-8109-77D9BAE9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239733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AD703F-0707-46CE-B80E-AC049B32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D1B9D-0549-4ACA-AE40-42EA2200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94D68-5A01-46D5-B314-E37DF60E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EA2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C4344-F4A3-404B-998E-9DF6CD89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6388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D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F9769-FC12-4871-AA14-AE394315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F53581E-8C51-4709-AB13-384263C4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1F8C58B-A935-4D94-9229-AC31CAB3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2425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4EA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4EA2"/>
                </a:solidFill>
                <a:latin typeface="Aptos"/>
                <a:ea typeface="Aptos"/>
                <a:cs typeface="Aptos"/>
              </a:rPr>
              <a:t>THE FRAMEWORK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7A680-0982-42EB-9433-E1BFF605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B3D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B3D"/>
                </a:solidFill>
                <a:latin typeface="Georgia"/>
                <a:ea typeface="Georgia"/>
                <a:cs typeface="Georgia"/>
              </a:rPr>
              <a:t>The 12-section structure turns a school assignment into a business case.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56359-753F-4FD6-9BEE-77494E8B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2669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414DB-FB0C-40DF-B30E-6BCF07DC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EB86A-BB45-404D-B539-0D5489D1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526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43609-A2C0-4A1E-95B3-D441299A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14575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B3D"/>
                </a:solidFill>
                <a:latin typeface="Aptos"/>
                <a:ea typeface="Aptos"/>
                <a:cs typeface="Aptos"/>
              </a:rPr>
              <a:t>Title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04181-6CF8-419A-A9ED-D138C717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14550"/>
            <a:ext cx="22669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B2CB7-ABCF-4BB0-A759-4F3E404B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8600E-3D10-40C7-B817-7FCFEAF3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526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38966B-61C3-4997-9B36-03295FBE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14575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B3D"/>
                </a:solidFill>
                <a:latin typeface="Aptos"/>
                <a:ea typeface="Aptos"/>
                <a:cs typeface="Aptos"/>
              </a:rPr>
              <a:t>Executive Summary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7D57F4-9A46-4C91-8E5C-27D76B4D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14550"/>
            <a:ext cx="22669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93CF5-A7D3-4EAB-A247-A94D75CC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860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0A5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BA0203-5D52-4B6B-8F88-896B43E2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526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4288A-EF94-4D80-B29B-B6F58491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14575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B3D"/>
                </a:solidFill>
                <a:latin typeface="Aptos"/>
                <a:ea typeface="Aptos"/>
                <a:cs typeface="Aptos"/>
              </a:rPr>
              <a:t>Business Problem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B34DEB-51B8-4AAD-8C99-E04D39E6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14550"/>
            <a:ext cx="22669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3B3B15-9965-4194-B851-4F732D86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860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43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B3E017-FD7B-4B66-BDE4-8839FE7A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526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22C0B6-0B8A-4618-A432-539F9503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14575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B3D"/>
                </a:solidFill>
                <a:latin typeface="Aptos"/>
                <a:ea typeface="Aptos"/>
                <a:cs typeface="Aptos"/>
              </a:rPr>
              <a:t>Business Questions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B7256F-900D-4A8A-AA2B-ABAAD513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2669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AEC775-B703-418F-884B-CAC16672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DF8788-02DC-41CF-8809-600A0E0E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432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A458F8-9E89-4A5A-9A9B-3AEA580B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05175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B3D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3B7D99-8673-4496-B930-FA879E7E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05150"/>
            <a:ext cx="22669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EA61C9-67D3-4D96-A42B-22BAEABE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76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2761F1-8897-48BA-96CF-BC8B92F9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432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5138A6-13BB-405C-9D10-A2AAB717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05175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B3D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6EC238-D8CB-42B7-B8A2-76135BB6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05150"/>
            <a:ext cx="22669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D3049B-F6F3-4B1D-828D-7D3E8A91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76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0A5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EEC7DC-5944-4089-9DD5-19806114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432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9177B7-6539-428D-8C7D-96EA3601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05175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B3D"/>
                </a:solidFill>
                <a:latin typeface="Aptos"/>
                <a:ea typeface="Aptos"/>
                <a:cs typeface="Aptos"/>
              </a:rPr>
              <a:t>Cleaning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8E6DE8-9783-4841-9151-DF4C22F2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05150"/>
            <a:ext cx="22669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02FC43-DFF6-4D67-A1CD-C954C27F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76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43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463B55-6016-456F-BCDD-EDE7C878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432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D0B113-6C5E-4F6B-83B6-9E12665A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05175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B3D"/>
                </a:solidFill>
                <a:latin typeface="Aptos"/>
                <a:ea typeface="Aptos"/>
                <a:cs typeface="Aptos"/>
              </a:rPr>
              <a:t>KPIs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208499-8D00-44A1-BA53-B69A5930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22669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31716F-15DA-478F-BE39-8E037F21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F3D302-2855-4525-8B6B-8F407176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338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871E1C-7BBC-4605-871A-E88DDF8A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95775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B3D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22ABA7-C4FB-4F67-B80A-551E601E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95750"/>
            <a:ext cx="22669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48488B-E72E-41B2-87EE-0D5107D4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672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332D08-F3AF-4F39-A420-6F06037D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338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0A5494-5E00-4443-AE06-47C0267D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95775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B3D"/>
                </a:solidFill>
                <a:latin typeface="Aptos"/>
                <a:ea typeface="Aptos"/>
                <a:cs typeface="Aptos"/>
              </a:rPr>
              <a:t>Insights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95FD2BB-102A-4EB2-A756-0AD6B257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95750"/>
            <a:ext cx="22669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7A1CAD-8FFA-4098-BE0E-DFC77BAE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672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0A5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B5C583-5BEE-4F90-9104-183A6F45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338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83CDD75-0EFC-4CB7-A04D-4E13BC60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95775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B3D"/>
                </a:solidFill>
                <a:latin typeface="Aptos"/>
                <a:ea typeface="Aptos"/>
                <a:cs typeface="Aptos"/>
              </a:rPr>
              <a:t>Recommendations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8F2DEB6-791E-4C31-A1BA-EABE95AF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95750"/>
            <a:ext cx="22669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DA49A09-14BB-4ECD-8B9A-C85F3ACC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672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43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0299BF-F82D-43F9-AFA9-FFC096F0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338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3531F56-5FF8-4909-8AEE-5923C5DE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95775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B3D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6E77D1F-D2B8-4DA4-ACB5-4C2C1C16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AI Skills Africa | Data Analytics Portfolio Webinar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F4A683-B90A-4FF0-9599-A35ACB6D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657220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E1DA94-F2B9-4EAD-BB5D-3CD4C4D3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2913A-F2B0-42A4-9AEA-800A0401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3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4B237-E6AB-46D9-8BE3-16D358BF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31A5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05C5C-928E-47E6-AC22-A9026918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6388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D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A5C9A-02FB-4F57-990D-62037FF3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653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674299A-7631-47EB-86ED-6EB3B190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AA396E4-3E85-4F30-93D6-5EB644FE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2425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31A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31A5"/>
                </a:solidFill>
                <a:latin typeface="Aptos"/>
                <a:ea typeface="Aptos"/>
                <a:cs typeface="Aptos"/>
              </a:rPr>
              <a:t>SECTION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B5F30-A92B-4FD4-9AA7-C93D47E2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B3D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B3D"/>
                </a:solidFill>
                <a:latin typeface="Georgia"/>
                <a:ea typeface="Georgia"/>
                <a:cs typeface="Georgia"/>
              </a:rPr>
              <a:t>Name the business problem before you name the tool.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C1623-ECBF-46FC-B5C6-1D151A59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095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F0C9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475FA-44F1-42CF-A8F5-07AEFC01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527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43A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43A3A"/>
                </a:solidFill>
                <a:latin typeface="Aptos"/>
                <a:ea typeface="Aptos"/>
                <a:cs typeface="Aptos"/>
              </a:rPr>
              <a:t>Weak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81BC2-BF44-4A7C-954C-A0847612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90850"/>
            <a:ext cx="2952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1B3D"/>
                </a:solidFill>
                <a:latin typeface="Aptos"/>
                <a:ea typeface="Aptos"/>
                <a:cs typeface="Aptos"/>
              </a:rPr>
              <a:t>Sales Dashboard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e78fe7b804700">
            <a:extLst>
              <a:ext uri="{96DAC541-7B7A-43D3-8B79-37D633B846F1}">
                <asvg:svgBlip xmlns:asvg="http://schemas.microsoft.com/office/drawing/2016/SVG/main" r:embed="R9d706606b89548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48150" y="27813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4BF4F-9969-4D22-8E42-65478BAB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66950"/>
            <a:ext cx="4476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FE6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87A04-B198-45D9-8A8C-D2916036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527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7A4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7A4B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4956C-8FD6-4DB7-8BF3-11CE0B19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527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1B3D"/>
                </a:solidFill>
                <a:latin typeface="Aptos"/>
                <a:ea typeface="Aptos"/>
                <a:cs typeface="Aptos"/>
              </a:rPr>
              <a:t>E-commerce Customer Retention Analysis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6d7e527054e45">
            <a:extLst>
              <a:ext uri="{96DAC541-7B7A-43D3-8B79-37D633B846F1}">
                <asvg:svgBlip xmlns:asvg="http://schemas.microsoft.com/office/drawing/2016/SVG/main" r:embed="Rbbbb40e4565541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39300" y="2781300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D03DF-A529-40D3-9F2C-F99F1954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48200"/>
            <a:ext cx="590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531A5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6531A5"/>
                </a:solidFill>
                <a:latin typeface="Georgia"/>
                <a:ea typeface="Georgia"/>
                <a:cs typeface="Georgia"/>
              </a:rPr>
              <a:t>[Business Area] + [Problem / Objective]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12F23C-BEF8-45FF-B327-EFFE86AC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AI Skills Africa | Data Analytics Portfolio Webinar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B325B-24FA-4F0D-A582-8D214329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145904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1311E4-C19B-4D52-94E7-0C82A486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1EBE5-C701-4BB7-B781-AF7CADFC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D990F-95BB-400A-A609-9761865A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A12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EA4EE-31AD-437C-8804-5DD993CB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6388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D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FF5FA-EC43-47BA-BCC3-A40C6776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45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78C2E82-1726-4837-93F6-A13FF99C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898A04D-7C0A-4B9A-B9B4-CFF7BE2F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2425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5A1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45A12"/>
                </a:solidFill>
                <a:latin typeface="Aptos"/>
                <a:ea typeface="Aptos"/>
                <a:cs typeface="Aptos"/>
              </a:rPr>
              <a:t>SECTIONS 2-4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3D687-3521-408C-8043-F3AF7387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B3D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B3D"/>
                </a:solidFill>
                <a:latin typeface="Georgia"/>
                <a:ea typeface="Georgia"/>
                <a:cs typeface="Georgia"/>
              </a:rPr>
              <a:t>The opening pages should prove you understand the decision.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85713-C011-4A50-AE6F-257F0AE9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290512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1b045ed8246f5">
            <a:extLst>
              <a:ext uri="{96DAC541-7B7A-43D3-8B79-37D633B846F1}">
                <asvg:svgBlip xmlns:asvg="http://schemas.microsoft.com/office/drawing/2016/SVG/main" r:embed="Reda5484f526743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90625" y="25908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C115F-6512-40F4-8089-FB9F8054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52800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4EA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4EA2"/>
                </a:solidFill>
                <a:latin typeface="Aptos"/>
                <a:ea typeface="Aptos"/>
                <a:cs typeface="Aptos"/>
              </a:rPr>
              <a:t>Executive Summary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6E2CF-1A9F-4CB6-90D3-E7890753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7190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What problem was solved? What was discovered? Why does it matter?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52082-600D-4411-9031-6A781C33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86000"/>
            <a:ext cx="290512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ba639a6c6426e">
            <a:extLst>
              <a:ext uri="{96DAC541-7B7A-43D3-8B79-37D633B846F1}">
                <asvg:svgBlip xmlns:asvg="http://schemas.microsoft.com/office/drawing/2016/SVG/main" r:embed="Rd8aab5b5581d46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24375" y="25908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0230A-2B5D-4E99-B6F3-148D803C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52800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43A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43A3A"/>
                </a:solidFill>
                <a:latin typeface="Aptos"/>
                <a:ea typeface="Aptos"/>
                <a:cs typeface="Aptos"/>
              </a:rPr>
              <a:t>Business Problem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76013-18C0-4305-A2B7-0ACB868F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7190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Context, problem, and decision goal before the dashboard appears.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51D7EB-574C-4CCD-B0BF-178BC139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86000"/>
            <a:ext cx="290512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da42fb9404bbe">
            <a:extLst>
              <a:ext uri="{96DAC541-7B7A-43D3-8B79-37D633B846F1}">
                <asvg:svgBlip xmlns:asvg="http://schemas.microsoft.com/office/drawing/2016/SVG/main" r:embed="R1d82a22cd9cf40f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58125" y="25908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B658EF-3275-42B0-8299-362370D6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52800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531A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531A5"/>
                </a:solidFill>
                <a:latin typeface="Aptos"/>
                <a:ea typeface="Aptos"/>
                <a:cs typeface="Aptos"/>
              </a:rPr>
              <a:t>Business Questions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6CFB1E-25D2-4ED8-AE4C-A75B09AE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7190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Three to eight questions management would actually ask.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436791-4FF0-4003-88C7-8291F6EC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53050"/>
            <a:ext cx="704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45A1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C45A12"/>
                </a:solidFill>
                <a:latin typeface="Georgia"/>
                <a:ea typeface="Georgia"/>
                <a:cs typeface="Georgia"/>
              </a:rPr>
              <a:t>Presenter cue: ask attendees to rewrite one weak project topic as a business problem live.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18199B-FEF6-4228-86D1-EC9E0EB7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AI Skills Africa | Data Analytics Portfolio Webinar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B20110-2988-4D14-808C-96AB8B56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18839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E2EB5E-B197-45B4-88FA-72550D30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424D0-D67C-4D5A-A33F-15B93AE0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FC6FE-FFEF-43B2-B8FD-3D81806B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4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FEAEB-9204-4476-A323-A48FBC66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6388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D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17E51-86AB-4D3A-830A-5F0887A5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E87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17B968E-BD86-444C-85D7-9115C9BA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0302315-DCD9-4224-84EE-027B10CF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2425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879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8794"/>
                </a:solidFill>
                <a:latin typeface="Aptos"/>
                <a:ea typeface="Aptos"/>
                <a:cs typeface="Aptos"/>
              </a:rPr>
              <a:t>SECTIONS 5-8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7D895-BAD5-4498-8C1B-BE40F99E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B3D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B3D"/>
                </a:solidFill>
                <a:latin typeface="Georgia"/>
                <a:ea typeface="Georgia"/>
                <a:cs typeface="Georgia"/>
              </a:rPr>
              <a:t>Data, tools, cleaning, and KPIs are the evidence system.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5d2107d394760">
            <a:extLst>
              <a:ext uri="{96DAC541-7B7A-43D3-8B79-37D633B846F1}">
                <asvg:svgBlip xmlns:asvg="http://schemas.microsoft.com/office/drawing/2016/SVG/main" r:embed="Ref8c54cdc1ee44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2324100"/>
            <a:ext cx="857250" cy="85725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3d481dfc74b29">
            <a:extLst>
              <a:ext uri="{96DAC541-7B7A-43D3-8B79-37D633B846F1}">
                <asvg:svgBlip xmlns:asvg="http://schemas.microsoft.com/office/drawing/2016/SVG/main" r:embed="R4145e8725f2246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00500" y="2324100"/>
            <a:ext cx="857250" cy="85725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895cb6d9d64f6a">
            <a:extLst>
              <a:ext uri="{96DAC541-7B7A-43D3-8B79-37D633B846F1}">
                <asvg:svgBlip xmlns:asvg="http://schemas.microsoft.com/office/drawing/2016/SVG/main" r:embed="Rf3d883dd4df2420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00875" y="2324100"/>
            <a:ext cx="857250" cy="857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65AC8-2279-4744-B2F5-FDA5C11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4EA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4EA2"/>
                </a:solidFill>
                <a:latin typeface="Aptos"/>
                <a:ea typeface="Aptos"/>
                <a:cs typeface="Aptos"/>
              </a:rPr>
              <a:t>Dataset Overview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B721E-6A9D-4173-97EC-635DD604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Source, records, period, variables, limitations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68C6C-95F3-4678-8663-BAF15C4C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290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5A1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C45A12"/>
                </a:solidFill>
                <a:latin typeface="Aptos"/>
                <a:ea typeface="Aptos"/>
                <a:cs typeface="Aptos"/>
              </a:rPr>
              <a:t>Tools Used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A47495-B2DC-4571-9DFD-E07EE5F6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29050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Tool plus purpose, never a plain software 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33E721-C6DF-4CC2-8AC5-3E64F838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290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7A4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7A4B"/>
                </a:solidFill>
                <a:latin typeface="Aptos"/>
                <a:ea typeface="Aptos"/>
                <a:cs typeface="Aptos"/>
              </a:rPr>
              <a:t>KPI Framework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C526C-D89D-416D-ACF6-5C40C4CF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29050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Metrics leadership would use to judge performance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34845B-2529-4071-A23C-EE3D83FC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9"/>
                </a:solidFill>
                <a:latin typeface="Aptos"/>
                <a:ea typeface="Aptos"/>
                <a:cs typeface="Aptos"/>
              </a:rPr>
              <a:t>clarity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4353B4-3FEC-4DC4-A832-C686B586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2857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4EB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DF22B2-2E8F-4D7C-BC1B-7DA5D5C2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2400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873A15-226F-446D-8988-24FB75BF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054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9"/>
                </a:solidFill>
                <a:latin typeface="Aptos"/>
                <a:ea typeface="Aptos"/>
                <a:cs typeface="Aptos"/>
              </a:rPr>
              <a:t>relevance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1F6B40-C6B5-4C3E-9C88-11D2923B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72100"/>
            <a:ext cx="2857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4EB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D2A2D2-DA17-4033-9D7D-DB343B7E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72100"/>
            <a:ext cx="20574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45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D64B18-EBF7-4B45-A5AE-D03BCC32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0540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9"/>
                </a:solidFill>
                <a:latin typeface="Aptos"/>
                <a:ea typeface="Aptos"/>
                <a:cs typeface="Aptos"/>
              </a:rPr>
              <a:t>business fit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CC40D1-0BCF-410A-9114-A02022F2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72100"/>
            <a:ext cx="2857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4EB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B90E12-0854-46BE-B78F-C9CFAF82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72100"/>
            <a:ext cx="26289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922B96-DC76-40E9-B8B1-4FB013BC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AI Skills Africa | Data Analytics Portfolio Webinar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672767-F9E4-424A-839B-CA289C0F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03620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0034A5-A24C-4A58-A4CD-FDDFAD6A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048C5-DA24-4B87-8A48-0729AAAC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D5CA2-9D16-4D60-BE28-D6C1099A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EA2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407C4-0271-4097-BFCA-A331B7EC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6388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D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A90A0-3EF4-4113-B5F4-12992016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AB74D55-DDEE-4375-8EB3-678E2D3E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2212DA3-B648-4D6C-AB86-233C1479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2425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4EA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4EA2"/>
                </a:solidFill>
                <a:latin typeface="Aptos"/>
                <a:ea typeface="Aptos"/>
                <a:cs typeface="Aptos"/>
              </a:rPr>
              <a:t>SECTION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BCA79-1C45-420B-83D1-4E7706F6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B3D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B3D"/>
                </a:solidFill>
                <a:latin typeface="Georgia"/>
                <a:ea typeface="Georgia"/>
                <a:cs typeface="Georgia"/>
              </a:rPr>
              <a:t>A dashboard is not the story; it is the interface for the 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246DD-44E7-46F5-A60E-1581B6BC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7000875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71635"/>
          </a:solidFill>
          <a:ln xmlns:a="http://schemas.openxmlformats.org/drawingml/2006/main" w="9525">
            <a:solidFill>
              <a:srgbClr val="123E7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A8546-1C8B-4AB1-AF65-436C85A6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193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$2.45M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5888D-1CFF-4F15-A3EA-4913CBA5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DB4D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DB4D6"/>
                </a:solidFill>
                <a:latin typeface="Aptos"/>
                <a:ea typeface="Aptos"/>
                <a:cs typeface="Aptos"/>
              </a:rPr>
              <a:t>Total Revenue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B3765-2AAB-48DD-876A-DC6DC221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193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18.6K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B9095-8AD7-4239-AE06-A4E1F8C3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432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DB4D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DB4D6"/>
                </a:solidFill>
                <a:latin typeface="Aptos"/>
                <a:ea typeface="Aptos"/>
                <a:cs typeface="Aptos"/>
              </a:rPr>
              <a:t>Orders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3D541-5938-4477-85E0-7AA7DD9F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193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23.5%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55B9B-F540-4DFB-951D-B0122AD5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432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DB4D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DB4D6"/>
                </a:solidFill>
                <a:latin typeface="Aptos"/>
                <a:ea typeface="Aptos"/>
                <a:cs typeface="Aptos"/>
              </a:rPr>
              <a:t>Churn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E97321-54C4-4901-BACA-19BD8037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266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7F6FFD-672B-4803-8DD7-E83F5F42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143375"/>
            <a:ext cx="2667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5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848EC3-3093-4A25-8274-C11C76DF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00500"/>
            <a:ext cx="266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40BB0-CB6B-44CC-A80C-C8BC06CC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248150"/>
            <a:ext cx="266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5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249099-038C-45E9-A490-736A9A88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29050"/>
            <a:ext cx="266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6040A5-36A0-4CDD-9BEF-CF2D6183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43300"/>
            <a:ext cx="266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5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FC4078-7B84-4898-AB56-D1537BF1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86200"/>
            <a:ext cx="266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DF4612-BB31-47BD-A6E7-1F762DED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71850"/>
            <a:ext cx="2667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5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C6A4AE-8836-48D9-B041-2D7EB7E6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66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38DDD6-3F68-4D61-B4FF-C81F9170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194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E67D4D-D5E7-49EF-9B3B-1CE62D15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5814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6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E28D83-6A38-43E9-9211-18B5DCF5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B4EA2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0B4EA2"/>
                </a:solidFill>
                <a:latin typeface="Georgia"/>
                <a:ea typeface="Georgia"/>
                <a:cs typeface="Georgia"/>
              </a:rPr>
              <a:t>Explain filters, charts, KPIs, interactions, and include high-quality screenshots.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f603505da4506">
            <a:extLst>
              <a:ext uri="{96DAC541-7B7A-43D3-8B79-37D633B846F1}">
                <asvg:svgBlip xmlns:asvg="http://schemas.microsoft.com/office/drawing/2016/SVG/main" r:embed="Rc10d12acc7e844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105900" y="4019550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8C640C-328A-486F-8AFD-46DEFF13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AI Skills Africa | Data Analytics Portfolio Webinar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D0CD9B-13B9-470C-8A5D-3D93A5DD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1207483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18EA2B-0328-47AE-815D-99E0F082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A001A-D09B-4850-AFFC-EB5F24F3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CFD4F-F871-4DBF-9636-9BE0E054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4B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E6AC1-A857-4F7F-BB7B-A06FA1C6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6388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D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73061-BFDD-427F-BF5E-01B91437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7C648FD-1BA1-4955-AE69-70E0AED9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889498D-B102-48DC-80F4-172E3269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2425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A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7A4B"/>
                </a:solidFill>
                <a:latin typeface="Aptos"/>
                <a:ea typeface="Aptos"/>
                <a:cs typeface="Aptos"/>
              </a:rPr>
              <a:t>SECTION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C4426-9F0D-4092-85D7-933F1655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B3D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B3D"/>
                </a:solidFill>
                <a:latin typeface="Georgia"/>
                <a:ea typeface="Georgia"/>
                <a:cs typeface="Georgia"/>
              </a:rPr>
              <a:t>Strong insights move from observation to meaning.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B9E27-5AD6-4752-828B-AB4F0237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1714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ED7AB-4181-4CFD-A7E3-F06F7C30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955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4EA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4EA2"/>
                </a:solidFill>
                <a:latin typeface="Aptos"/>
                <a:ea typeface="Aptos"/>
                <a:cs typeface="Aptos"/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011D5-46AA-40C4-B46C-943E4ED7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66950"/>
            <a:ext cx="571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West region has high traffic.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A6B78-F1B3-4AEA-992F-493E49F6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714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DCC77-2C13-48F2-9814-5F40B472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765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7A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7A4B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9B41B-C929-4708-8E86-449043E4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48000"/>
            <a:ext cx="571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B3D"/>
                </a:solidFill>
                <a:latin typeface="Aptos"/>
                <a:ea typeface="Aptos"/>
                <a:cs typeface="Aptos"/>
              </a:rPr>
              <a:t>High traffic is not converting into revenue.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2B4EC-9F1D-4F09-967F-549DE2F6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1714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42C72A-5164-409B-B474-992794E9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576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5A1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45A12"/>
                </a:solidFill>
                <a:latin typeface="Aptos"/>
                <a:ea typeface="Aptos"/>
                <a:cs typeface="Aptos"/>
              </a:rPr>
              <a:t>Implication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47DF4-71C5-449E-B4C7-3C006394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29050"/>
            <a:ext cx="571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There may be a funnel, offer, or targeting problem.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C4293E-FF68-446D-A39B-A0680D34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714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0EBC33-C27D-41D3-BD72-2E4D0377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386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3A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43A3A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5BF7B4-86C7-4E2A-9C2D-070FCF1E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10100"/>
            <a:ext cx="571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Audit conversion path and campaign quality by region.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82ca4b93e440c">
            <a:extLst>
              <a:ext uri="{96DAC541-7B7A-43D3-8B79-37D633B846F1}">
                <asvg:svgBlip xmlns:asvg="http://schemas.microsoft.com/office/drawing/2016/SVG/main" r:embed="R786d4da2cac744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29750" y="276225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7D4DD1-E8A8-4428-BC04-A922C18C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AI Skills Africa | Data Analytics Portfolio Webinar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13E106-AFB9-4093-AA57-64559C28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301010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7550DB-D897-47E6-8D4D-2AE227A9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DEAE2-13DA-4017-8AA8-CA468719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5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48680-9F6E-47ED-B8C4-0EB1FA2E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E3FF6-2CA9-4CF2-B3DA-BE78CC39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6388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D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433C6-9F86-446A-BD78-3416FCB4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0A5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EEBC93D-C00B-449B-8502-E52A3C35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8DE1CD7-E7D4-45D9-B798-7019B25B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2425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A51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A51D"/>
                </a:solidFill>
                <a:latin typeface="Aptos"/>
                <a:ea typeface="Aptos"/>
                <a:cs typeface="Aptos"/>
              </a:rPr>
              <a:t>SECTION 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885A2-D38F-440A-B4FD-7CCEC72B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B3D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B3D"/>
                </a:solidFill>
                <a:latin typeface="Georgia"/>
                <a:ea typeface="Georgia"/>
                <a:cs typeface="Georgia"/>
              </a:rPr>
              <a:t>Recommendations must connect insight, action, and expected value.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3EBE5F-E4CD-4F1E-918A-5A551040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3000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4EFBB-1133-4920-8184-6FA8B236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907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CECE5-4AD3-4FF3-9EE6-8715B5B2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66950"/>
            <a:ext cx="3000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AFA86-6A0F-4804-97F4-DE4F0CA4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907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EF5CA-9FDF-4483-9060-0EC67A67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66950"/>
            <a:ext cx="30003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DDB2C-C5AD-4004-884E-163DAFB9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907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EXPECTED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6E159-00F2-4541-A674-B67A3B78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300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F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6AC96-F579-4B8C-99DA-181045D0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Delivery delays correlate with churn.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3B70B-272B-4D8B-AE33-520484B0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05100"/>
            <a:ext cx="300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F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05F93F-1EF0-4580-8A4F-191C850B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Prioritize delivery reliability for repeat customers.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A0F1D-1371-46BA-AFA2-6F298A07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05100"/>
            <a:ext cx="300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F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11FDAB-872D-4A26-A94B-F1A95F8A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May improve retention and satisfaction.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2FA6A1-1D36-4EAB-A9A4-FE5390B2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300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F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4CB251-62E0-4A6B-B556-7831958F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Low engagement precedes repeat purchase drop.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AA0A25-99CF-410E-960F-B37310C2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29000"/>
            <a:ext cx="300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F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09E3BC-82BB-4719-8C71-A616770C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814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Run re-engagement campaigns for at-risk customers.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6965E0-2320-4768-B117-D9DF05EC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29000"/>
            <a:ext cx="300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F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F386C6-85C0-4AE0-9A60-8F1A6585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814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Could protect recurring revenue.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8886FD-5D6E-4FBA-B1DF-BC32EE61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300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F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C43025-DDA3-4EFB-90E7-25937479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Top sellers face stockouts.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E4C9DE-F097-4268-B170-49E1F8CD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52900"/>
            <a:ext cx="300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F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0921B7-6F8F-47FF-8A64-A2DA569F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053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Optimize inventory for high-performing categories.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A09465-9CC1-4757-8E0D-0D0DD5CC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52900"/>
            <a:ext cx="300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F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CBB79D-1577-411C-845B-2BACE8A5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May prevent missed sales.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A1F35B-68CA-4BD2-9E44-26782CFD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29250"/>
            <a:ext cx="619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45A12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C45A12"/>
                </a:solidFill>
                <a:latin typeface="Georgia"/>
                <a:ea typeface="Georgia"/>
                <a:cs typeface="Georgia"/>
              </a:rPr>
              <a:t>Formula: Insight → Recommendation → Expected Value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13556F-4671-464D-BE97-E70EA8E5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AI Skills Africa | Data Analytics Portfolio Webinar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E0CEAB-A0FE-410A-A9A0-62A509CE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993795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F1EEF4-58D4-4FB1-951B-77B31FD2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4E6D9-87FB-40E6-BDD7-87AC6304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860E8-5DE1-44FC-A5A9-651106B9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A3A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3607E-7121-4CD4-8EE3-72C656D8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6388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D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328AD-AB8B-4FBD-9E3B-BC6366B9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43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293EACA-9B3F-43E9-8F24-16C173F8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ED3C146-F54F-4811-B2E9-6448A208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2425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3A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43A3A"/>
                </a:solidFill>
                <a:latin typeface="Aptos"/>
                <a:ea typeface="Aptos"/>
                <a:cs typeface="Aptos"/>
              </a:rPr>
              <a:t>OPTIONAL IMPACT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3AB7D-8F9E-47AD-9CB8-DEAC0686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B3D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B3D"/>
                </a:solidFill>
                <a:latin typeface="Georgia"/>
                <a:ea typeface="Georgia"/>
                <a:cs typeface="Georgia"/>
              </a:rPr>
              <a:t>Use potential business value without pretending the result already happened.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1C1C2-5881-4582-A945-B4B56BF1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3762375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C37C3-8C48-4137-A34C-E488B233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3A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43A3A"/>
                </a:solidFill>
                <a:latin typeface="Aptos"/>
                <a:ea typeface="Aptos"/>
                <a:cs typeface="Aptos"/>
              </a:rPr>
              <a:t>Avoid fake certainty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A6A28-2C0D-4D2D-A7F7-E3182C65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2724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B3D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01B3D"/>
                </a:solidFill>
                <a:latin typeface="Georgia"/>
                <a:ea typeface="Georgia"/>
                <a:cs typeface="Georgia"/>
              </a:rPr>
              <a:t>Never claim: “This increased revenue by 30%” unless it was actually implemented.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d95c09b554a1b">
            <a:extLst>
              <a:ext uri="{96DAC541-7B7A-43D3-8B79-37D633B846F1}">
                <asvg:svgBlip xmlns:asvg="http://schemas.microsoft.com/office/drawing/2016/SVG/main" r:embed="Rdea019eebddb45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05250" y="24765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CC1464-4428-4795-8419-073E88F7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33600"/>
            <a:ext cx="409575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FE6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F1F6C-6E76-4AE7-B369-4C009C5F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574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A4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7A4B"/>
                </a:solidFill>
                <a:latin typeface="Aptos"/>
                <a:ea typeface="Aptos"/>
                <a:cs typeface="Aptos"/>
              </a:rPr>
              <a:t>Use portfolio-safe language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8903F-6CA5-4D1F-8420-F20413F0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A4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7A4B"/>
                </a:solidFill>
                <a:latin typeface="Aptos"/>
                <a:ea typeface="Aptos"/>
                <a:cs typeface="Aptos"/>
              </a:rPr>
              <a:t>Could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0BA3B-AA08-4851-BC8D-D0ED63BF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289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4EA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4EA2"/>
                </a:solidFill>
                <a:latin typeface="Aptos"/>
                <a:ea typeface="Aptos"/>
                <a:cs typeface="Aptos"/>
              </a:rPr>
              <a:t>May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1CF8D-1116-4153-96F9-ACFDC8C6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5A1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45A12"/>
                </a:solidFill>
                <a:latin typeface="Aptos"/>
                <a:ea typeface="Aptos"/>
                <a:cs typeface="Aptos"/>
              </a:rPr>
              <a:t>Potentially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4A045F-2976-4E3C-A2F0-6F3AED99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861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531A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531A5"/>
                </a:solidFill>
                <a:latin typeface="Aptos"/>
                <a:ea typeface="Aptos"/>
                <a:cs typeface="Aptos"/>
              </a:rPr>
              <a:t>Estimated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83CC90-678D-4A35-90FD-1C31B573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879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E8794"/>
                </a:solidFill>
                <a:latin typeface="Aptos"/>
                <a:ea typeface="Aptos"/>
                <a:cs typeface="Aptos"/>
              </a:rPr>
              <a:t>Expected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6E5F78-2A3C-4D5A-810D-B9CFAC08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771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C43A3A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C43A3A"/>
                </a:solidFill>
                <a:latin typeface="Georgia"/>
                <a:ea typeface="Georgia"/>
                <a:cs typeface="Georgia"/>
              </a:rPr>
              <a:t>Example: 10,000 churned customers × $50 AOV = $500,000 potential revenue at risk.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A3A4CF-0E4B-44AC-80C9-7B5CFE93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AI Skills Africa | Data Analytics Portfolio Webinar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718E1B-D7F5-46AC-A172-66D6FFAA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453187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E1BD87-EFA7-48EA-802B-C29575A5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8F704-B7A3-445A-ABB4-21FA6997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3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D6504-26DF-4272-971B-4785B836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31A5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479CA-D131-40C0-B9C8-C7C532D0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6388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D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1EA0F-CEE2-4E1B-8418-657BD019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653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FEF006F-F68A-44D1-B0AE-1B7F431B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BCB3D09-5405-402D-8027-A4441539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2425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531A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531A5"/>
                </a:solidFill>
                <a:latin typeface="Aptos"/>
                <a:ea typeface="Aptos"/>
                <a:cs typeface="Aptos"/>
              </a:rPr>
              <a:t>FINAL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376A6-4725-4A0A-8821-9CECCDA2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B3D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B3D"/>
                </a:solidFill>
                <a:latin typeface="Georgia"/>
                <a:ea typeface="Georgia"/>
                <a:cs typeface="Georgia"/>
              </a:rPr>
              <a:t>Before publishing, check for business clarity and professional restraint.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6B7EF-E2B9-4FB9-A344-38A81636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0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CB2E3-366C-440B-BA27-C117076D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1717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DAFFC-1D0D-49AC-AC4A-AF9904F7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526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Business-focused title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DFB9D-1CFD-42A9-BA23-E5D5D15F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28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7D3DE-AA29-401E-9C4A-481B95F7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0035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B5DA03-18FF-4C27-8B81-EBD42750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813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Clear business problem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A34DF-06F0-4465-9E70-E07F03BE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57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B2008-FB8D-4796-9DC1-9EBE064E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4290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F2312-8213-4AD2-9045-99B4CCD7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099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Strong business questions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18D821-77D3-47D8-9CA5-DF92B1B8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86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3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386A75-0EE7-464B-8B13-2A82C041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5765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B14EA3-63BE-4F17-B28A-5955B85D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386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Dataset and limitations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C1272B-46C6-4A1D-92BD-02EF225F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26F617-1EF9-429B-8C32-D66517F4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863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91C840-C61D-40DD-8435-9C8C6307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672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Cleaning steps documented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C7BD70-B63C-450C-AB5D-D9AE0BF8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00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AEB54-2AB8-4932-8653-CDC760A8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1717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C13D69-B667-4D3F-94B4-08DCCC09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526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KPIs tied to goals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9D8580-6288-4C95-819F-07729EC3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28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E75B99-2215-4667-A380-410A700F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0035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813314-A86A-4F10-ADE3-B31D19EE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813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Dashboard tells a story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48583F-8B84-407E-A9D7-5FD2917F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457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DF3C4E-662E-4DD2-99DA-13E9E3D6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4290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EE81E2-594C-45B4-96CE-F878F90C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099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Insights are meaningful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A2D901-99F5-4FEE-A5DB-BCE60205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086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3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178D9F-5B99-4419-A482-F96465C7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05765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A9BF28-7EA6-465F-AF75-AB2809A0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386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Recommendations connect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BDA12A-0F31-4A08-9092-AAEFD9B9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14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7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71646C-D8AC-4B9E-ABCD-596A5E7B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6863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AEDA3D-51D6-40AA-8230-3E55D50F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672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B3D"/>
                </a:solidFill>
                <a:latin typeface="Aptos"/>
                <a:ea typeface="Aptos"/>
                <a:cs typeface="Aptos"/>
              </a:rPr>
              <a:t>No fake business claims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1f9efdfbf4129">
            <a:extLst>
              <a:ext uri="{96DAC541-7B7A-43D3-8B79-37D633B846F1}">
                <asvg:svgBlip xmlns:asvg="http://schemas.microsoft.com/office/drawing/2016/SVG/main" r:embed="R3c48d8d5cf89406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0" y="44005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986412-F11F-42BC-A8CE-6DFE4A7A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AI Skills Africa | Data Analytics Portfolio Webinar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80E918-DDC5-4C4E-B164-BDF4B45D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4596938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576C81-BF99-44B1-AABC-C1C47F8E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B2B61-5505-4A58-9718-89CA7405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3CAFE-B78E-48F1-819A-71869457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EA2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7534B-31DF-4F10-8517-D21242DF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6388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D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91F7A-EE1A-4B79-BFC1-3A601A3D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885825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544E5-DDE1-4D12-855E-D86F2B9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257300"/>
            <a:ext cx="7429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B3D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101B3D"/>
                </a:solidFill>
                <a:latin typeface="Georgia"/>
                <a:ea typeface="Georgia"/>
                <a:cs typeface="Georgia"/>
              </a:rPr>
              <a:t>A simple project explained well beats a complex project explained poorly.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7B33A-B5AC-4AD7-88F0-23015E40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86050"/>
            <a:ext cx="276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6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AB9D6-9DEB-428E-B942-E42778E3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33700"/>
            <a:ext cx="657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Your portfolio is not about proving you know tools. It is about proving you can solve business problems using data.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1ed5a9a294e9a">
            <a:extLst>
              <a:ext uri="{96DAC541-7B7A-43D3-8B79-37D633B846F1}">
                <asvg:svgBlip xmlns:asvg="http://schemas.microsoft.com/office/drawing/2016/SVG/main" r:embed="R83d9bc73bbf547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67750" y="2628900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D2627-AC5D-4228-B55D-3E079FF0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DA05B4-007C-4BCD-8143-F9C42863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4820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B3D"/>
                </a:solidFill>
                <a:latin typeface="Aptos"/>
                <a:ea typeface="Aptos"/>
                <a:cs typeface="Aptos"/>
              </a:rPr>
              <a:t>Clear thinking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32C26-EDE9-4E79-A9A1-19D1A12C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57700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F47DC-8442-42AA-BF43-B288E3A8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4820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B3D"/>
                </a:solidFill>
                <a:latin typeface="Aptos"/>
                <a:ea typeface="Aptos"/>
                <a:cs typeface="Aptos"/>
              </a:rPr>
              <a:t>Strong storytelling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46347-D27C-4762-9CE4-11FAF233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57700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E3B82-206D-490C-8C40-31A0D571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4820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B3D"/>
                </a:solidFill>
                <a:latin typeface="Aptos"/>
                <a:ea typeface="Aptos"/>
                <a:cs typeface="Aptos"/>
              </a:rPr>
              <a:t>Meaningful insights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C311F-1843-4F01-B0B0-8CF9A7FE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E751B-E533-4A38-8ED9-7C099720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4820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B3D"/>
                </a:solidFill>
                <a:latin typeface="Aptos"/>
                <a:ea typeface="Aptos"/>
                <a:cs typeface="Aptos"/>
              </a:rPr>
              <a:t>Professional dashboards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DDDEC1-911D-4845-8634-AAAFF87F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57700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2EC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BA2B1-2558-49EB-8C02-B18FCA1A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4820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B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B3D"/>
                </a:solidFill>
                <a:latin typeface="Aptos"/>
                <a:ea typeface="Aptos"/>
                <a:cs typeface="Aptos"/>
              </a:rPr>
              <a:t>Business recommendations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189F81-616E-42B5-BD4D-EBFDA937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79"/>
                </a:solidFill>
                <a:latin typeface="Aptos"/>
                <a:ea typeface="Aptos"/>
                <a:cs typeface="Aptos"/>
              </a:rPr>
              <a:t>AI Skills Africa | Data Analytics Portfolio Webinar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2F8796-144E-46F4-BFC5-6AD98920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2617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577249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2026-05-14T22:15:21.8800000Z</dcterms:created>
  <dcterms:modified xsi:type="dcterms:W3CDTF">2026-05-14T22:15:21.8800000Z</dcterms:modified>
</coreProperties>
</file>